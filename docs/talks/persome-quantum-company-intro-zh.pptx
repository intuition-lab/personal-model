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92c012c941419d" /><Relationship Type="http://schemas.openxmlformats.org/officeDocument/2006/relationships/extended-properties" Target="/docProps/app.xml" Id="Ra752af06f99346d2" /><Relationship Type="http://schemas.openxmlformats.org/officeDocument/2006/relationships/officeDocument" Target="/ppt/presentation.xml" Id="R0f5a2326222143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85e4c05e832429b"/>
  </p:sldMasterIdLst>
  <p:notesMasterIdLst>
    <p:notesMasterId xmlns:r="http://schemas.openxmlformats.org/officeDocument/2006/relationships" r:id="R7b6c3db44ec54650"/>
  </p:notesMasterIdLst>
  <p:sldIdLst>
    <p:sldId xmlns:r="http://schemas.openxmlformats.org/officeDocument/2006/relationships" id="256" r:id="R09375d43bf604a58"/>
    <p:sldId xmlns:r="http://schemas.openxmlformats.org/officeDocument/2006/relationships" id="257" r:id="Rf82b42c76de04c49"/>
    <p:sldId xmlns:r="http://schemas.openxmlformats.org/officeDocument/2006/relationships" id="258" r:id="R2f3197bbe0804489"/>
    <p:sldId xmlns:r="http://schemas.openxmlformats.org/officeDocument/2006/relationships" id="259" r:id="Re9dabe13c6d248dd"/>
    <p:sldId xmlns:r="http://schemas.openxmlformats.org/officeDocument/2006/relationships" id="260" r:id="R13336c0960664406"/>
    <p:sldId xmlns:r="http://schemas.openxmlformats.org/officeDocument/2006/relationships" id="261" r:id="R3693fbddf5e842ac"/>
    <p:sldId xmlns:r="http://schemas.openxmlformats.org/officeDocument/2006/relationships" id="262" r:id="Raba054a4be93460c"/>
    <p:sldId xmlns:r="http://schemas.openxmlformats.org/officeDocument/2006/relationships" id="263" r:id="R0ba24ebc048342b1"/>
    <p:sldId xmlns:r="http://schemas.openxmlformats.org/officeDocument/2006/relationships" id="264" r:id="Rfa93ae9fc61f4924"/>
    <p:sldId xmlns:r="http://schemas.openxmlformats.org/officeDocument/2006/relationships" id="265" r:id="R8efd251b8db84707"/>
    <p:sldId xmlns:r="http://schemas.openxmlformats.org/officeDocument/2006/relationships" id="266" r:id="R02740e072ae24a69"/>
    <p:sldId xmlns:r="http://schemas.openxmlformats.org/officeDocument/2006/relationships" id="267" r:id="R04662044bffb4a08"/>
    <p:sldId xmlns:r="http://schemas.openxmlformats.org/officeDocument/2006/relationships" id="268" r:id="R9bd328a7f160461a"/>
    <p:sldId xmlns:r="http://schemas.openxmlformats.org/officeDocument/2006/relationships" id="269" r:id="R3200ed0761bd43a6"/>
    <p:sldId xmlns:r="http://schemas.openxmlformats.org/officeDocument/2006/relationships" id="270" r:id="R9f5cc6a4dd2f4eee"/>
    <p:sldId xmlns:r="http://schemas.openxmlformats.org/officeDocument/2006/relationships" id="271" r:id="R33071a8743c34c12"/>
    <p:sldId xmlns:r="http://schemas.openxmlformats.org/officeDocument/2006/relationships" id="272" r:id="R3c30f061d6ef443d"/>
    <p:sldId xmlns:r="http://schemas.openxmlformats.org/officeDocument/2006/relationships" id="273" r:id="R60f6446bf4924b49"/>
    <p:sldId xmlns:r="http://schemas.openxmlformats.org/officeDocument/2006/relationships" id="274" r:id="R0095016981584c7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7a74489fd541f8" /><Relationship Type="http://schemas.openxmlformats.org/officeDocument/2006/relationships/slideMaster" Target="/ppt/slideMasters/slideMaster1.xml" Id="R285e4c05e832429b" /><Relationship Type="http://schemas.openxmlformats.org/officeDocument/2006/relationships/notesMaster" Target="/ppt/notesMasters/notesMaster1.xml" Id="R7b6c3db44ec54650" /><Relationship Type="http://schemas.openxmlformats.org/officeDocument/2006/relationships/presProps" Target="/ppt/presProps.xml" Id="R7adcee262e1c4798" /><Relationship Type="http://schemas.openxmlformats.org/officeDocument/2006/relationships/tableStyles" Target="/ppt/tableStyles.xml" Id="Rfaf636dd278943eb" /><Relationship Type="http://schemas.openxmlformats.org/officeDocument/2006/relationships/slide" Target="/ppt/slides/slide1.xml" Id="R09375d43bf604a58" /><Relationship Type="http://schemas.openxmlformats.org/officeDocument/2006/relationships/slide" Target="/ppt/slides/slide2.xml" Id="Rf82b42c76de04c49" /><Relationship Type="http://schemas.openxmlformats.org/officeDocument/2006/relationships/slide" Target="/ppt/slides/slide3.xml" Id="R2f3197bbe0804489" /><Relationship Type="http://schemas.openxmlformats.org/officeDocument/2006/relationships/slide" Target="/ppt/slides/slide4.xml" Id="Re9dabe13c6d248dd" /><Relationship Type="http://schemas.openxmlformats.org/officeDocument/2006/relationships/slide" Target="/ppt/slides/slide5.xml" Id="R13336c0960664406" /><Relationship Type="http://schemas.openxmlformats.org/officeDocument/2006/relationships/slide" Target="/ppt/slides/slide6.xml" Id="R3693fbddf5e842ac" /><Relationship Type="http://schemas.openxmlformats.org/officeDocument/2006/relationships/slide" Target="/ppt/slides/slide7.xml" Id="Raba054a4be93460c" /><Relationship Type="http://schemas.openxmlformats.org/officeDocument/2006/relationships/slide" Target="/ppt/slides/slide8.xml" Id="R0ba24ebc048342b1" /><Relationship Type="http://schemas.openxmlformats.org/officeDocument/2006/relationships/slide" Target="/ppt/slides/slide9.xml" Id="Rfa93ae9fc61f4924" /><Relationship Type="http://schemas.openxmlformats.org/officeDocument/2006/relationships/slide" Target="/ppt/slides/slide10.xml" Id="R8efd251b8db84707" /><Relationship Type="http://schemas.openxmlformats.org/officeDocument/2006/relationships/slide" Target="/ppt/slides/slide11.xml" Id="R02740e072ae24a69" /><Relationship Type="http://schemas.openxmlformats.org/officeDocument/2006/relationships/slide" Target="/ppt/slides/slide12.xml" Id="R04662044bffb4a08" /><Relationship Type="http://schemas.openxmlformats.org/officeDocument/2006/relationships/slide" Target="/ppt/slides/slide13.xml" Id="R9bd328a7f160461a" /><Relationship Type="http://schemas.openxmlformats.org/officeDocument/2006/relationships/slide" Target="/ppt/slides/slide14.xml" Id="R3200ed0761bd43a6" /><Relationship Type="http://schemas.openxmlformats.org/officeDocument/2006/relationships/slide" Target="/ppt/slides/slide15.xml" Id="R9f5cc6a4dd2f4eee" /><Relationship Type="http://schemas.openxmlformats.org/officeDocument/2006/relationships/slide" Target="/ppt/slides/slide16.xml" Id="R33071a8743c34c12" /><Relationship Type="http://schemas.openxmlformats.org/officeDocument/2006/relationships/slide" Target="/ppt/slides/slide17.xml" Id="R3c30f061d6ef443d" /><Relationship Type="http://schemas.openxmlformats.org/officeDocument/2006/relationships/slide" Target="/ppt/slides/slide18.xml" Id="R60f6446bf4924b49" /><Relationship Type="http://schemas.openxmlformats.org/officeDocument/2006/relationships/slide" Target="/ppt/slides/slide19.xml" Id="R0095016981584c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093b9f9e3b4d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d00ee385ab4680" /><Relationship Type="http://schemas.openxmlformats.org/officeDocument/2006/relationships/notesMaster" Target="/ppt/notesMasters/notesMaster1.xml" Id="R0bf3b6f6ae0a49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7a3cf9bf884c19" /><Relationship Type="http://schemas.openxmlformats.org/officeDocument/2006/relationships/notesMaster" Target="/ppt/notesMasters/notesMaster1.xml" Id="Rc5dc28ae09a24bc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9360616efd40f5" /><Relationship Type="http://schemas.openxmlformats.org/officeDocument/2006/relationships/notesMaster" Target="/ppt/notesMasters/notesMaster1.xml" Id="R7e705739f34b42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93919969d74856" /><Relationship Type="http://schemas.openxmlformats.org/officeDocument/2006/relationships/notesMaster" Target="/ppt/notesMasters/notesMaster1.xml" Id="R5ab33c665b6043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a708250c6249c6" /><Relationship Type="http://schemas.openxmlformats.org/officeDocument/2006/relationships/notesMaster" Target="/ppt/notesMasters/notesMaster1.xml" Id="R0936c23ecb7b4ae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ca4e7915a34a64" /><Relationship Type="http://schemas.openxmlformats.org/officeDocument/2006/relationships/notesMaster" Target="/ppt/notesMasters/notesMaster1.xml" Id="Rccf392c6392246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e90d3de46c64649" /><Relationship Type="http://schemas.openxmlformats.org/officeDocument/2006/relationships/notesMaster" Target="/ppt/notesMasters/notesMaster1.xml" Id="R019f3e96a48f4a6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649260178a8432a" /><Relationship Type="http://schemas.openxmlformats.org/officeDocument/2006/relationships/notesMaster" Target="/ppt/notesMasters/notesMaster1.xml" Id="R421a786beaba4d0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c4fef63d26d408f" /><Relationship Type="http://schemas.openxmlformats.org/officeDocument/2006/relationships/notesMaster" Target="/ppt/notesMasters/notesMaster1.xml" Id="Rf808cb431d3444b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4a8d550e0440d2" /><Relationship Type="http://schemas.openxmlformats.org/officeDocument/2006/relationships/notesMaster" Target="/ppt/notesMasters/notesMaster1.xml" Id="Rae51a2f7fdc247b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a67d1f885d44243" /><Relationship Type="http://schemas.openxmlformats.org/officeDocument/2006/relationships/notesMaster" Target="/ppt/notesMasters/notesMaster1.xml" Id="R8b36f9a5f4b5498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1618e8f5dd34626" /><Relationship Type="http://schemas.openxmlformats.org/officeDocument/2006/relationships/notesMaster" Target="/ppt/notesMasters/notesMaster1.xml" Id="Rc073c6409f154ea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ee872932610480b" /><Relationship Type="http://schemas.openxmlformats.org/officeDocument/2006/relationships/notesMaster" Target="/ppt/notesMasters/notesMaster1.xml" Id="R10defe012861451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05b9423f230499a" /><Relationship Type="http://schemas.openxmlformats.org/officeDocument/2006/relationships/notesMaster" Target="/ppt/notesMasters/notesMaster1.xml" Id="R4c1b5dc2d6494c2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ffcdeb367574c5a" /><Relationship Type="http://schemas.openxmlformats.org/officeDocument/2006/relationships/notesMaster" Target="/ppt/notesMasters/notesMaster1.xml" Id="Rd57867112d4f4ae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87d9320cc684adc" /><Relationship Type="http://schemas.openxmlformats.org/officeDocument/2006/relationships/notesMaster" Target="/ppt/notesMasters/notesMaster1.xml" Id="R415d42d20b76458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608ccfa9b03468d" /><Relationship Type="http://schemas.openxmlformats.org/officeDocument/2006/relationships/notesMaster" Target="/ppt/notesMasters/notesMaster1.xml" Id="Rd9b0f5045f85497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0896adc02f64462" /><Relationship Type="http://schemas.openxmlformats.org/officeDocument/2006/relationships/notesMaster" Target="/ppt/notesMasters/notesMaster1.xml" Id="Rfa75ca389858496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fee968106c2461c" /><Relationship Type="http://schemas.openxmlformats.org/officeDocument/2006/relationships/notesMaster" Target="/ppt/notesMasters/notesMaster1.xml" Id="R47bea87089fb46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建议用时：0:30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开场只给一个定义：Persome 是一个开源、本地优先的 macOS Personal Model Runtime。</a:t>
            </a:r>
          </a:p>
          <a:p xmlns:a="http://schemas.openxmlformats.org/drawingml/2006/main">
            <a:r>
              <a:t>- 这次不把它讲成一个记忆插件，而是讲清它如何从观察、状态形成到个人建模，再把上下文交给受信任的 Agent。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https://github.com/Persome-ai/persome-core/blob/1caab28a76846caaf11fd3b19bf6f1b371e312d9/README.md</a:t>
            </a:r>
          </a:p>
          <a:p xmlns:a="http://schemas.openxmlformats.org/drawingml/2006/main">
            <a:r>
              <a:t>- https://github.com/Persome-ai/persome-core/blob/1caab28a76846caaf11fd3b19bf6f1b371e312d9/ARCHITECTURE.md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用一个反差打开：视觉感知解决当前场景，但没有自动得到目标、约束和历史。</a:t>
            </a:r>
          </a:p>
          <a:p xmlns:a="http://schemas.openxmlformats.org/drawingml/2006/main">
            <a:r>
              <a:t>- 这也是项目从 Proactive Vision 继续向意图识别、再向 Personal Model 演进的原因。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Founder-provided project history in this task, 2026-07-31.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这是产品探索路径，不是三个并行、完整交付的现行模块。</a:t>
            </a:r>
          </a:p>
          <a:p xmlns:a="http://schemas.openxmlformats.org/drawingml/2006/main">
            <a:r>
              <a:t>- 关键转折是：我们不再只问“下一步该做什么”，而是建立一个可复用的个人上下文底座。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Founder-provided project history in this task, 2026-07-31.</a:t>
            </a:r>
          </a:p>
          <a:p xmlns:a="http://schemas.openxmlformats.org/drawingml/2006/main">
            <a:r>
              <a:t>- https://github.com/Persome-ai/persome-core/blob/1caab28a76846caaf11fd3b19bf6f1b371e312d9/README.md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痛点不只是 memory，而是 delegation：Agent 数量增加后，人要承担更多同步成本。</a:t>
            </a:r>
          </a:p>
          <a:p xmlns:a="http://schemas.openxmlformats.org/drawingml/2006/main">
            <a:r>
              <a:t>- Persome 的工作不是替 Agent 做事，而是缩短接手前的上下文同步。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https://github.com/Persome-ai/persome-core/blob/1caab28a76846caaf11fd3b19bf6f1b371e312d9/README.md</a:t>
            </a:r>
          </a:p>
          <a:p xmlns:a="http://schemas.openxmlformats.org/drawingml/2006/main">
            <a:r>
              <a:t>- https://github.com/Persome-ai/persome-core/blob/1caab28a76846caaf11fd3b19bf6f1b371e312d9/MCP.md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强调四个词：开源、本地优先、Personal Model Runtime、个人上下文基础设施。</a:t>
            </a:r>
          </a:p>
          <a:p xmlns:a="http://schemas.openxmlformats.org/drawingml/2006/main">
            <a:r>
              <a:t>- 同一个基础模型面对不同的人，应该理解不同的目标、优先级和决策习惯。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https://github.com/Persome-ai/persome-core/blob/1caab28a76846caaf11fd3b19bf6f1b371e312d9/README.md</a:t>
            </a:r>
          </a:p>
          <a:p xmlns:a="http://schemas.openxmlformats.org/drawingml/2006/main">
            <a:r>
              <a:t>- https://github.com/Persome-ai/persome-core/blob/1caab28a76846caaf11fd3b19bf6f1b371e312d9/docs/assets/readme/same-ai-different-you.png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这三层对应清晰的责任边界：采集层只负责观察，建模层负责形成状态与结构，连接层负责受控访问。</a:t>
            </a:r>
          </a:p>
          <a:p xmlns:a="http://schemas.openxmlformats.org/drawingml/2006/main">
            <a:r>
              <a:t>- 后面逐层展开，同时始终保留本地、证据和权限边界。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https://github.com/Persome-ai/persome-core/blob/1caab28a76846caaf11fd3b19bf6f1b371e312d9/ARCHITECTURE.md</a:t>
            </a:r>
          </a:p>
          <a:p xmlns:a="http://schemas.openxmlformats.org/drawingml/2006/main">
            <a:r>
              <a:t>- https://github.com/Persome-ai/persome-core/blob/1caab28a76846caaf11fd3b19bf6f1b371e312d9/docs/architecture.md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AX 是主信号；OCR 只是 AX 不足时的本地回退，而且在隔离子进程中运行。</a:t>
            </a:r>
          </a:p>
          <a:p xmlns:a="http://schemas.openxmlformats.org/drawingml/2006/main">
            <a:r>
              <a:t>- 无论来源是什么，都收敛为同一个 S1 合约，后续层不直接依赖 macOS。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https://github.com/Persome-ai/persome-core/blob/1caab28a76846caaf11fd3b19bf6f1b371e312d9/docs/capture.md</a:t>
            </a:r>
          </a:p>
          <a:p xmlns:a="http://schemas.openxmlformats.org/drawingml/2006/main">
            <a:r>
              <a:t>- https://github.com/Persome-ai/persome-core/blob/1caab28a76846caaf11fd3b19bf6f1b371e312d9/docs/architecture.md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这是 local-first 的具体实现，不只是口号：权限主体、像素策略、加密密钥和保留窗口都有可验证状态。</a:t>
            </a:r>
          </a:p>
          <a:p xmlns:a="http://schemas.openxmlformats.org/drawingml/2006/main">
            <a:r>
              <a:t>- Persome 的失败语义偏保守：不能确认时降级，而不是继续写入敏感数据。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https://github.com/Persome-ai/persome-core/blob/1caab28a76846caaf11fd3b19bf6f1b371e312d9/SECURITY_PRIVACY.md</a:t>
            </a:r>
          </a:p>
          <a:p xmlns:a="http://schemas.openxmlformats.org/drawingml/2006/main">
            <a:r>
              <a:t>- https://github.com/Persome-ai/persome-core/blob/1caab28a76846caaf11fd3b19bf6f1b371e312d9/docs/capture.md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Timeline 按真实时钟对齐为一分钟窗口，保留用户写下的原文；Session 用三条确定规则切分。</a:t>
            </a:r>
          </a:p>
          <a:p xmlns:a="http://schemas.openxmlformats.org/drawingml/2006/main">
            <a:r>
              <a:t>- 默认每五分钟 reducer 处理新窗口，session 结束只补未覆盖的尾部，避免重复成本与重复写入。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https://github.com/Persome-ai/persome-core/blob/1caab28a76846caaf11fd3b19bf6f1b371e312d9/docs/timeline.md</a:t>
            </a:r>
          </a:p>
          <a:p xmlns:a="http://schemas.openxmlformats.org/drawingml/2006/main">
            <a:r>
              <a:t>- https://github.com/Persome-ai/persome-core/blob/1caab28a76846caaf11fd3b19bf6f1b371e312d9/docs/session.md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Point 与 Line 是在线增量路径；Face、Volume、Root 是证据积累后的结构化提升。</a:t>
            </a:r>
          </a:p>
          <a:p xmlns:a="http://schemas.openxmlformats.org/drawingml/2006/main">
            <a:r>
              <a:t>- 两种速度避免每次屏幕变化都重建整个模型，同时保持高阶结构不会由一次偶然观察产生。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https://github.com/Persome-ai/persome-core/blob/1caab28a76846caaf11fd3b19bf6f1b371e312d9/docs/writer.md</a:t>
            </a:r>
          </a:p>
          <a:p xmlns:a="http://schemas.openxmlformats.org/drawingml/2006/main">
            <a:r>
              <a:t>- https://github.com/Persome-ai/persome-core/blob/1caab28a76846caaf11fd3b19bf6f1b371e312d9/ARCHITECTURE.md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Point 是带来源的观察；Line 记录关系或变化；Face 是重复证据支持的模式；Volume 跨项目或领域；Root 是当前综合模型。</a:t>
            </a:r>
          </a:p>
          <a:p xmlns:a="http://schemas.openxmlformats.org/drawingml/2006/main">
            <a:r>
              <a:t>- Root 最多一个，而且高阶结构都能沿 receipts 回溯到具体证据。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https://github.com/Persome-ai/persome-core/blob/1caab28a76846caaf11fd3b19bf6f1b371e312d9/README.md</a:t>
            </a:r>
          </a:p>
          <a:p xmlns:a="http://schemas.openxmlformats.org/drawingml/2006/main">
            <a:r>
              <a:t>- https://github.com/Persome-ai/persome-core/blob/1caab28a76846caaf11fd3b19bf6f1b371e312d9/MODEL_FORMAT.md</a:t>
            </a:r>
          </a:p>
          <a:p xmlns:a="http://schemas.openxmlformats.org/drawingml/2006/main">
            <a:r>
              <a:t>- https://github.com/Persome-ai/persome-core/blob/1caab28a76846caaf11fd3b19bf6f1b371e312d9/docs/assets/readme/one-root.png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resolve_evidence 明确分开直接来源、附近上下文和 Point 历史，避免把“同时发生”误当成“证明”。</a:t>
            </a:r>
          </a:p>
          <a:p xmlns:a="http://schemas.openxmlformats.org/drawingml/2006/main">
            <a:r>
              <a:t>- 纠正不会抹掉旧状态；用户可以看到模型如何从旧判断演化到新判断。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https://github.com/Persome-ai/persome-core/blob/1caab28a76846caaf11fd3b19bf6f1b371e312d9/MCP.md</a:t>
            </a:r>
          </a:p>
          <a:p xmlns:a="http://schemas.openxmlformats.org/drawingml/2006/main">
            <a:r>
              <a:t>- https://github.com/Persome-ai/persome-core/blob/1caab28a76846caaf11fd3b19bf6f1b371e312d9/docs/model-contract.md</a:t>
            </a:r>
          </a:p>
          <a:p xmlns:a="http://schemas.openxmlformats.org/drawingml/2006/main">
            <a:r>
              <a:t>- https://github.com/Persome-ai/persome-core/blob/1caab28a76846caaf11fd3b19bf6f1b371e312d9/SECURITY_PRIVACY.md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可靠性不是靠“多跑几次 LLM”，而是 persist-before-apply、稳定 bookmark 和单一锁协调入口。</a:t>
            </a:r>
          </a:p>
          <a:p xmlns:a="http://schemas.openxmlformats.org/drawingml/2006/main">
            <a:r>
              <a:t>- 同一窗口的 payload 会被复用，避免重复模型成本和重复强化关系。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https://github.com/Persome-ai/persome-core/blob/1caab28a76846caaf11fd3b19bf6f1b371e312d9/docs/session.md</a:t>
            </a:r>
          </a:p>
          <a:p xmlns:a="http://schemas.openxmlformats.org/drawingml/2006/main">
            <a:r>
              <a:t>- https://github.com/Persome-ai/persome-core/blob/1caab28a76846caaf11fd3b19bf6f1b371e312d9/docs/writer.md</a:t>
            </a:r>
          </a:p>
          <a:p xmlns:a="http://schemas.openxmlformats.org/drawingml/2006/main">
            <a:r>
              <a:t>- https://github.com/Persome-ai/persome-core/blob/1caab28a76846caaf11fd3b19bf6f1b371e312d9/docs/architecture.md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Persome 是 context provider，不是 computer-use agent；它的 MCP 没有点击、输入、会议、通知或任务执行工具。</a:t>
            </a:r>
          </a:p>
          <a:p xmlns:a="http://schemas.openxmlformats.org/drawingml/2006/main">
            <a:r>
              <a:t>- HTTP 仅 loopback，默认 stdio 连接不复制 bearer；Viewer 使用短时、一次性能力。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https://github.com/Persome-ai/persome-core/blob/1caab28a76846caaf11fd3b19bf6f1b371e312d9/MCP.md</a:t>
            </a:r>
          </a:p>
          <a:p xmlns:a="http://schemas.openxmlformats.org/drawingml/2006/main">
            <a:r>
              <a:t>- https://github.com/Persome-ai/persome-core/blob/1caab28a76846caaf11fd3b19bf6f1b371e312d9/SECURITY_PRIVACY.md</a:t>
            </a:r>
          </a:p>
          <a:p xmlns:a="http://schemas.openxmlformats.org/drawingml/2006/main">
            <a:r>
              <a:t>- https://github.com/Persome-ai/persome-core/blob/1caab28a76846caaf11fd3b19bf6f1b371e312d9/docs/model-contract.md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建议用时：3:00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现场使用匿名化或合成数据；真实个人模型不直接投屏。</a:t>
            </a:r>
          </a:p>
          <a:p xmlns:a="http://schemas.openxmlformats.org/drawingml/2006/main">
            <a:r>
              <a:t>- Demo 不追求“AI 什么都知道”，而是证明：能接续、能回证据、能纠正、不会越权行动。</a:t>
            </a:r>
          </a:p>
          <a:p xmlns:a="http://schemas.openxmlformats.org/drawingml/2006/main">
            <a:r>
              <a:t>- 准备预录备份，避免现场权限、模型调用或投屏异常。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https://github.com/Persome-ai/persome-core/blob/1caab28a76846caaf11fd3b19bf6f1b371e312d9/MCP.md</a:t>
            </a:r>
          </a:p>
          <a:p xmlns:a="http://schemas.openxmlformats.org/drawingml/2006/main">
            <a:r>
              <a:t>- https://github.com/Persome-ai/persome-core/blob/1caab28a76846caaf11fd3b19bf6f1b371e312d9/docs/model-contract.md</a:t>
            </a:r>
          </a:p>
          <a:p xmlns:a="http://schemas.openxmlformats.org/drawingml/2006/main">
            <a:r>
              <a:t>- https://github.com/Persome-ai/persome-core/blob/1caab28a76846caaf11fd3b19bf6f1b371e312d9/docs/assets/readme/continue-where-you-left-off.png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明确标注为待验证假设：我们没有把量子行业需求、价值或付费意愿当作已验证事实。</a:t>
            </a:r>
          </a:p>
          <a:p xmlns:a="http://schemas.openxmlformats.org/drawingml/2006/main">
            <a:r>
              <a:t>- 三个场景的共同核心是研究思路、实验上下文和决策边界的连续交接。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Founder-provided quantum research brief, 2026-07-29.</a:t>
            </a:r>
          </a:p>
          <a:p xmlns:a="http://schemas.openxmlformats.org/drawingml/2006/main">
            <a:r>
              <a:t>- https://github.com/Persome-ai/persome-core/blob/1caab28a76846caaf11fd3b19bf6f1b371e312d9/README.md</a:t>
            </a:r>
          </a:p>
          <a:p xmlns:a="http://schemas.openxmlformats.org/drawingml/2006/main">
            <a:r>
              <a:t>- https://github.com/Persome-ai/persome-core/blob/1caab28a76846caaf11fd3b19bf6f1b371e312d9/MCP.md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理想闭环不是让 Agent 替代研究者，而是让 Agent 理解目标、假设、实验路径和判断边界后，独立完成可授权的部分。</a:t>
            </a:r>
          </a:p>
          <a:p xmlns:a="http://schemas.openxmlformats.org/drawingml/2006/main">
            <a:r>
              <a:t>- 研究者负责校准方向与最终决策；每次纠正反过来改善下一次委派。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Founder-provided quantum research brief, 2026-07-29.</a:t>
            </a:r>
          </a:p>
          <a:p xmlns:a="http://schemas.openxmlformats.org/drawingml/2006/main">
            <a:r>
              <a:t>- https://github.com/Persome-ai/persome-core/blob/1caab28a76846caaf11fd3b19bf6f1b371e312d9/SECURITY_PRIVACY.md</a:t>
            </a:r>
          </a:p>
          <a:p xmlns:a="http://schemas.openxmlformats.org/drawingml/2006/main">
            <a:r>
              <a:t>- https://github.com/Persome-ai/persome-core/blob/1caab28a76846caaf11fd3b19bf6f1b371e312d9/MCP.md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未来价值用三层递进表达，但行动上从一个小验证开始。</a:t>
            </a:r>
          </a:p>
          <a:p xmlns:a="http://schemas.openxmlformats.org/drawingml/2006/main">
            <a:r>
              <a:t>- 建议把结果定义为可观测指标，而不是泛泛的“更聪明”或“更懂人”。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Founder-provided quantum research brief, 2026-07-29.</a:t>
            </a:r>
          </a:p>
          <a:p xmlns:a="http://schemas.openxmlformats.org/drawingml/2006/main">
            <a:r>
              <a:t>- https://github.com/Persome-ai/persome-core/blob/1caab28a76846caaf11fd3b19bf6f1b371e312d9/README.md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建议用时：开放讨论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把讨论从“Persome 还能做什么”拉回到对方真实工作流：哪里最常断档、代价是什么、哪些数据不能碰。</a:t>
            </a:r>
          </a:p>
          <a:p xmlns:a="http://schemas.openxmlformats.org/drawingml/2006/main">
            <a:r>
              <a:t>- 如果现场出现明确场景，记录角色、输入、权限边界、成功指标和可接受的实验范围。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Founder-provided quantum research brief, 2026-07-29.</a:t>
            </a:r>
          </a:p>
          <a:p xmlns:a="http://schemas.openxmlformats.org/drawingml/2006/main">
            <a:r>
              <a:t>- https://github.com/Intuition-Lab/personal-model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639ea0417744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763922b0934595" /><Relationship Type="http://schemas.openxmlformats.org/officeDocument/2006/relationships/slideLayout" Target="/ppt/slideLayouts/slideLayout1.xml" Id="Rf01c552994a94f9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01c552994a94f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8ff4f06cb3414f" /><Relationship Type="http://schemas.openxmlformats.org/officeDocument/2006/relationships/image" Target="/ppt/media/image.png" Id="Rf10f8f4c4f514522" /><Relationship Type="http://schemas.openxmlformats.org/officeDocument/2006/relationships/notesSlide" Target="/ppt/notesSlides/notesSlide1.xml" Id="R5d3254e0d0694d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5278f0ab54627" /><Relationship Type="http://schemas.openxmlformats.org/officeDocument/2006/relationships/notesSlide" Target="/ppt/notesSlides/notesSlide2.xml" Id="R309067c3976c46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99b5b8b4584e83" /><Relationship Type="http://schemas.openxmlformats.org/officeDocument/2006/relationships/notesSlide" Target="/ppt/notesSlides/notesSlide3.xml" Id="R39b4dd1274e746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ede6f594d240f5" /><Relationship Type="http://schemas.openxmlformats.org/officeDocument/2006/relationships/notesSlide" Target="/ppt/notesSlides/notesSlide4.xml" Id="R1710a3a66d824b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28c70567b44a6" /><Relationship Type="http://schemas.openxmlformats.org/officeDocument/2006/relationships/image" Target="/ppt/media/image2.png" Id="R23db075a521b4119" /><Relationship Type="http://schemas.openxmlformats.org/officeDocument/2006/relationships/notesSlide" Target="/ppt/notesSlides/notesSlide5.xml" Id="R0eded0b1bdcc4d3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15faf24524046" /><Relationship Type="http://schemas.openxmlformats.org/officeDocument/2006/relationships/notesSlide" Target="/ppt/notesSlides/notesSlide6.xml" Id="R012ad1d3761b49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212a2d10b54d88" /><Relationship Type="http://schemas.openxmlformats.org/officeDocument/2006/relationships/notesSlide" Target="/ppt/notesSlides/notesSlide7.xml" Id="R5e8aacf2d6f141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8fa4f942a94ca7" /><Relationship Type="http://schemas.openxmlformats.org/officeDocument/2006/relationships/notesSlide" Target="/ppt/notesSlides/notesSlide8.xml" Id="Re4d3fddb3fac4f7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688c8878b4657" /><Relationship Type="http://schemas.openxmlformats.org/officeDocument/2006/relationships/notesSlide" Target="/ppt/notesSlides/notesSlide9.xml" Id="R32b06dad2cb24a4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2240140e0e4fc9" /><Relationship Type="http://schemas.openxmlformats.org/officeDocument/2006/relationships/notesSlide" Target="/ppt/notesSlides/notesSlide10.xml" Id="Ra40e0c2e9469492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910450934403a" /><Relationship Type="http://schemas.openxmlformats.org/officeDocument/2006/relationships/image" Target="/ppt/media/image3.png" Id="R9b0286c56afc4e2d" /><Relationship Type="http://schemas.openxmlformats.org/officeDocument/2006/relationships/notesSlide" Target="/ppt/notesSlides/notesSlide11.xml" Id="Re861a96bbadd42d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67a8f364424fa7" /><Relationship Type="http://schemas.openxmlformats.org/officeDocument/2006/relationships/notesSlide" Target="/ppt/notesSlides/notesSlide12.xml" Id="R0230f3aded384c4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d2982da144aa1" /><Relationship Type="http://schemas.openxmlformats.org/officeDocument/2006/relationships/notesSlide" Target="/ppt/notesSlides/notesSlide13.xml" Id="R2cddff4d5b404b7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c88262087e46c2" /><Relationship Type="http://schemas.openxmlformats.org/officeDocument/2006/relationships/notesSlide" Target="/ppt/notesSlides/notesSlide14.xml" Id="Re964e4256d51427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03a88c810a41b3" /><Relationship Type="http://schemas.openxmlformats.org/officeDocument/2006/relationships/image" Target="/ppt/media/image4.png" Id="R2bdd0525492240b3" /><Relationship Type="http://schemas.openxmlformats.org/officeDocument/2006/relationships/notesSlide" Target="/ppt/notesSlides/notesSlide15.xml" Id="Rdb6622ecdc5b461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65b27dae914ba5" /><Relationship Type="http://schemas.openxmlformats.org/officeDocument/2006/relationships/notesSlide" Target="/ppt/notesSlides/notesSlide16.xml" Id="Rb6f3dae08867460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f0b42377c4c6b" /><Relationship Type="http://schemas.openxmlformats.org/officeDocument/2006/relationships/notesSlide" Target="/ppt/notesSlides/notesSlide17.xml" Id="R379480f7af234eb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40fa2eaa764d8b" /><Relationship Type="http://schemas.openxmlformats.org/officeDocument/2006/relationships/notesSlide" Target="/ppt/notesSlides/notesSlide18.xml" Id="R2eba0e0f5e5043b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83a2af8f7143f7" /><Relationship Type="http://schemas.openxmlformats.org/officeDocument/2006/relationships/notesSlide" Target="/ppt/notesSlides/notesSlide19.xml" Id="Rd19499b710c0492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0f8f4c4f514522"/>
          <a:srcRect xmlns:a="http://schemas.openxmlformats.org/drawingml/2006/main" l="25156" t="0" r="2515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34100" y="0"/>
            <a:ext cx="60579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39B33B-410F-46FA-B764-59D6AD11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A3818-3855-4BF0-8A4D-92F83A32B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438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6C89B2-3081-4AEB-BE88-C171615C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2900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OPEN SOURCE TALK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CC0C8C-184F-4C17-BCD1-AD756557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81125"/>
            <a:ext cx="519112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95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Persome：</a:t>
            </a:r>
          </a:p>
          <a:p xmlns:a="http://schemas.openxmlformats.org/drawingml/2006/main">
            <a:pPr algn="l">
              <a:defRPr sz="495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95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从视觉感知到</a:t>
            </a:r>
          </a:p>
          <a:p xmlns:a="http://schemas.openxmlformats.org/drawingml/2006/main">
            <a:pPr algn="l">
              <a:defRPr sz="495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95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个人建模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7C4A55-C610-44EA-8125-B235A441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5000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开源、本地优先的 macOS Personal Model Runtime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D310E9-2B57-4302-8132-B79A29E9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95850"/>
            <a:ext cx="5000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让受信任的 Agent 沿着证据接手工作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E989C0-DD5E-48E6-B77C-045B4368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24575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Personal Model v0.3.2 · Apache-2.0</a:t>
            </a:r>
          </a:p>
        </p:txBody>
      </p:sp>
    </p:spTree>
    <p:extLst>
      <p:ext uri="{BB962C8B-B14F-4D97-AF65-F5344CB8AC3E}">
        <p14:creationId xmlns:p14="http://schemas.microsoft.com/office/powerpoint/2010/main" val="8437168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463530-F45F-448A-BCDB-2D6370AA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B6F07B-0215-4180-A2C3-C26BB96D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BACKGROUND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C8E2DD-6E54-4899-AD72-2DD08A77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看见屏幕，不等于理解一个人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CB9AF-4D78-4DFD-A2E4-BCE73C93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26E99F-4423-4F99-B7A3-28095DC0F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AD4E76-F90A-4535-BBDC-650D3A56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238AA1-ADB6-4BDB-8801-6F4723B8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一个系统可以看到“你在做什么”，却仍然不知道：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3CBD1B-AC8D-4A12-863E-5AB030C0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7676B1-2C98-4A62-9F66-B64C6071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05050"/>
            <a:ext cx="85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AAF997-97D7-4ABF-81BA-BBB35011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2669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当前目标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9408E5-E57F-4F83-9507-93A1DA31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050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为什么此刻做这件事？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3280F-521A-4E16-9C29-2D933F50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004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BBE6DD-E2B3-4E80-AF82-D66FB8D8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71850"/>
            <a:ext cx="85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92DB95-69B2-4AB3-BF73-1D6DC5C9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337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判断边界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DE8222-8D32-49D4-A3F7-0611CB57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718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哪些方案试过、为什么放弃？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837A5F-C0BD-4EF0-935C-2D55F0FD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672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044D64-FF72-4D36-AB52-5884BA4C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85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2B5CA8-4468-42B5-908F-FB7758EB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005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长期连续性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59F1F8-710B-4D86-9726-9EB6C0A1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386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下一位 Agent 如何沿着同一条证据继续？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B371E0-E84F-492A-9558-4BE45AC9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4673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真正缺失的不是像素，而是“可持续、可校准的上下文”。</a:t>
            </a:r>
          </a:p>
        </p:txBody>
      </p:sp>
    </p:spTree>
    <p:extLst>
      <p:ext uri="{BB962C8B-B14F-4D97-AF65-F5344CB8AC3E}">
        <p14:creationId xmlns:p14="http://schemas.microsoft.com/office/powerpoint/2010/main" val="1541639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CD95CD-E43F-4B83-82A6-926489D69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ED1C4C-9B01-4DC1-86BA-C24692CB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BACKGROUND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AC6C91-89D4-4194-8FA3-900D2609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三个阶段，解决了三个不同问题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487D9A-46B2-4F3D-896C-C57D2594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38A6B2-2908-4C0E-BA37-30B6548C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345977-3810-40FA-88B1-7F3FF72AB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EE1696-349A-4B9D-B423-5C3BB0A7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43350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8D6CB-5649-40B5-BAFB-289B3EF8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86175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1C494B-C6A3-443E-88EB-C36D9D69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86175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40B0A5-7CE3-4012-BE39-7D535695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714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D3EAD5-286B-4035-9F61-8215AEEF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002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869B0E-C66C-46C6-983E-598BEF9C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19300"/>
            <a:ext cx="3190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Proactive Vision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412F8E-4268-4F5F-BAB4-558AE6A9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7652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现在发生了什么？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E48EE2-EA4F-45FF-80C1-1B4637B2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38650"/>
            <a:ext cx="3190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从聚焦窗口和屏幕上下文中发现可帮助的时刻。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5E0C9C-D3AB-4680-8FC8-1F770624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91150"/>
            <a:ext cx="3190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局限：瞬时、场景化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E4AF5B-B3C8-4560-BD67-847E0F296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14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F422D1-0E9C-4D3D-A9E5-11DE1DB3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002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ECA361-06C2-40BB-904A-481EAD8D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19300"/>
            <a:ext cx="3190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意图识别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19CFC8-50AE-449A-BD17-238C52A3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7652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用户想完成什么？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18F752-21AA-4AC9-A448-5A842898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438650"/>
            <a:ext cx="3190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尝试从当前行为推断目标、下一步与可能的阻塞。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652E0D-37F4-4604-AE6F-13C8430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391150"/>
            <a:ext cx="3190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局限：意图短暂且易误判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6EED54-9EE3-4751-B358-30ED4CCB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714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630C75-C014-42A6-918E-F0F17B9A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16002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46D541-80C5-4342-A508-7A3F6394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019300"/>
            <a:ext cx="3190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Personal Model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1B9465-B6A7-4454-9F66-15A150AB6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67652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这个人如何长期工作？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7660DE-25DE-4A84-9B40-EF7BE31D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438650"/>
            <a:ext cx="3190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把目标、决策方式、关系与变化沉淀为带证据的长期模型。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9E98F6-789A-4477-9071-26B53BBF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391150"/>
            <a:ext cx="3190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方向：持续、可纠正</a:t>
            </a:r>
          </a:p>
        </p:txBody>
      </p:sp>
    </p:spTree>
    <p:extLst>
      <p:ext uri="{BB962C8B-B14F-4D97-AF65-F5344CB8AC3E}">
        <p14:creationId xmlns:p14="http://schemas.microsoft.com/office/powerpoint/2010/main" val="12108571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425426-8754-489C-8CF4-B222626F2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94ABD0-4732-47FB-9F72-3F4EFD70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BACKGROUND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E0A4E5-A7CB-4346-809D-09BA42B2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Agent 越多，briefing 反而越重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4FC943-C3B0-4C4F-9BB7-8608177D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A068AD-4299-4640-BD97-AE992441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B234E2-646E-41D9-8B83-07187F94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4AEBFE-951C-47D3-91B6-3F35FFC9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能力供给增加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1FAC6A-6DDB-4A47-8E79-77A85BA4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Claude / Codex / Cursor / 专用 Agent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1F8C3C-C76E-47C4-8BA5-5810AFEB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714625"/>
            <a:ext cx="8191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5100" b="1">
                <a:solidFill>
                  <a:srgbClr val="B8BCC4"/>
                </a:solidFill>
                <a:latin typeface="PingFang SC"/>
                <a:ea typeface="PingFang SC"/>
                <a:cs typeface="PingFang SC"/>
              </a:defRPr>
            </a:pPr>
            <a:r>
              <a:rPr sz="5100" b="1">
                <a:solidFill>
                  <a:srgbClr val="B8BCC4"/>
                </a:solidFill>
                <a:latin typeface="PingFang SC"/>
                <a:ea typeface="PingFang SC"/>
                <a:cs typeface="PingFang SC"/>
              </a:rPr>
              <a:t>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5BD485-1076-4FEE-BE79-ABFE4464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60020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委派带宽增加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A988ED-A253-4D0E-9B2B-2CE5044F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336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目标、进度、约束、决策理由、下一步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E44DE8-EA72-4BE1-9AC0-22BB72A7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0"/>
            <a:ext cx="4953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97C1AD-12CB-4B55-9023-44BC0170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453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WITHOUT SHARED 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4FC332-D8BB-4F14-8706-15099D6C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人变成上下文搬运工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8BDA76-55E9-4666-822D-E3727D36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4533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每切换一次 Agent，都要重新解释项目；私有记忆彼此割裂，错误也会被复制。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E9C631-E037-4F0E-936B-1CA226A5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48000"/>
            <a:ext cx="49339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B1BA37-2699-4EED-A5FE-A3B97E73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219450"/>
            <a:ext cx="451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WITH A PERSONAL MODEL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FFEDCD-0F00-4C2A-8107-A52C7044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543300"/>
            <a:ext cx="4514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Agent 从同一份状态接手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05CBE9-77A4-4E05-96C6-D7665D20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114800"/>
            <a:ext cx="4514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目标、证据、边界与纠正历史由用户掌控，通过授权提供给不同工具。</a:t>
            </a:r>
          </a:p>
        </p:txBody>
      </p:sp>
    </p:spTree>
    <p:extLst>
      <p:ext uri="{BB962C8B-B14F-4D97-AF65-F5344CB8AC3E}">
        <p14:creationId xmlns:p14="http://schemas.microsoft.com/office/powerpoint/2010/main" val="9978076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6724AA-B6AD-4190-8C84-330BB22D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9E11D2-BBE1-428E-8AE0-2908885E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BACKGROUND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D217927-3BC8-45FB-994D-3581A775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Persome 是属于个人的上下文基础设施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18E747-7D9A-4BD1-A253-0F99A509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A6508F-A32C-41B4-9001-90471BA7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25008-8E34-4848-88DD-4F43A800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A6B5B9-AE43-4203-A6B3-C580ADA8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一个开源、本地优先的 macOS Personal Model Runtime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49A623-F62E-4BA3-A131-7A77E572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1104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它不是把更多聊天记录存下来，而是把持续工作变成可检查、可纠正、可导出的个人模型。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db075a521b4119"/>
          <a:stretch xmlns:a="http://schemas.openxmlformats.org/drawingml/2006/main"/>
        </p:blipFill>
        <p:spPr>
          <a:xfrm xmlns:a="http://schemas.openxmlformats.org/drawingml/2006/main">
            <a:off x="2964303" y="2571750"/>
            <a:ext cx="6263395" cy="3524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3929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AEFC0E-CF1B-4977-AF10-08B7CA7A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81F35-BB68-4736-B0F8-EB875F41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ARCHITECTURE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CC9B00-86A4-4A40-BD66-045AE5CE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三层架构：采集、建模、连接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10CA9A-F5D9-4A9E-8C57-37FA1B0A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D9981-18A6-40A0-8076-783D8CE3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784EE4-6E53-44BF-8568-01ABB1AE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3F28D2-01D7-45D2-B165-277C887B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766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042C4-3E4D-4792-B6E5-F8EDEF2B0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766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C20BFE-F881-47AF-A585-04EF1408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4800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7653BA-8EDA-46D2-BE4F-091E4255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4800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38CDAC-48CE-4F10-A021-9BD26D17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35814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4A391B-43C5-4E52-97D0-1BEE2B16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35814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BF83"/>
          </a:solidFill>
          <a:ln xmlns:a="http://schemas.openxmlformats.org/drawingml/2006/main" w="0">
            <a:solidFill>
              <a:srgbClr val="0BBF8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680030-3BEB-4A25-AD36-58D50694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574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153269-DB7E-4F22-AFA4-69F0CCEF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采集层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107DDA-D87A-4549-B46F-E777F0B0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9900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CAPTURE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4C5E2-7373-4062-A586-1C5AFDE0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0"/>
            <a:ext cx="3124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获得用户明确授权后，从 AX、可选本地 OCR 与可信 ingest 形成 S1 观察。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9A0C08-0842-417D-94AF-BDAA067B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312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8360DA-783E-48F8-BB9F-019855E4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244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BF83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BF83"/>
                </a:solidFill>
                <a:latin typeface="PingFang SC"/>
                <a:ea typeface="PingFang SC"/>
                <a:cs typeface="PingFang SC"/>
              </a:rPr>
              <a:t>输出：focused element / visible text / URL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052B44-160D-4540-A922-C12B04CC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95450"/>
            <a:ext cx="35814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C71B70-3C20-409A-95A6-8696198B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95450"/>
            <a:ext cx="35814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28DDA7-B18E-415E-A5D3-933BA84C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574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BF2DF1-8702-4BD7-9F1B-595E9585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建模层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021EC8-A1D9-4B79-9343-338AC2210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009900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MODEL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98787D-8826-4EBE-AB7B-184493DE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19500"/>
            <a:ext cx="3124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把观察切成时间块和会话，增量生成 Point / Line，再构建 Face / Volume / Root。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B55C10-9504-4DDF-B68B-C8EC825A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95850"/>
            <a:ext cx="312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65F876-2A0D-4295-B2AC-65D614A6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1244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输出：带证据、可纠正的 Personal Model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016CFE-E29E-4407-8DCA-566E6456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95450"/>
            <a:ext cx="35814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EBB8BE-CE2C-4F9D-AE3E-938C95EC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95450"/>
            <a:ext cx="35814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CC4"/>
          </a:solidFill>
          <a:ln xmlns:a="http://schemas.openxmlformats.org/drawingml/2006/main" w="0">
            <a:solidFill>
              <a:srgbClr val="D94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32FCDE-4B66-4724-A379-F2744637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574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B13661-72FC-45D4-A3D4-5B26464C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76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连接层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166D25-A9D6-4A90-8D6D-2D932AAA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09900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CONNECT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4EB53F-5C3B-46C4-BD8C-9881CAE9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19500"/>
            <a:ext cx="3124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通过快照、MCP、CLI 与本地 Viewer 向受信任客户端提供上下文。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017565-7A8C-4626-BC19-F4AD2418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95850"/>
            <a:ext cx="312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4760FC-D116-40E2-9400-D8C5BAA5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1244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4CC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94CC4"/>
                </a:solidFill>
                <a:latin typeface="PingFang SC"/>
                <a:ea typeface="PingFang SC"/>
                <a:cs typeface="PingFang SC"/>
              </a:rPr>
              <a:t>输出：可查询的本地上下文能力</a:t>
            </a:r>
          </a:p>
        </p:txBody>
      </p:sp>
    </p:spTree>
    <p:extLst>
      <p:ext uri="{BB962C8B-B14F-4D97-AF65-F5344CB8AC3E}">
        <p14:creationId xmlns:p14="http://schemas.microsoft.com/office/powerpoint/2010/main" val="16009260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B4182E5-A9B7-4C2D-BFDF-A063DC72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880DE-D6B9-49E9-901F-4B3C1928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CAPTURE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F94263-4995-4352-8DF6-BABE8E42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采集层先把屏幕变成可信观察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26F75F-6C05-4508-9CAC-4CA44025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B704B-7CDE-4068-BEB7-CAD3C60F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327C23-4B03-479B-97AF-D2EB4AFD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78853F-8526-42A6-BA6F-E024FAD5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86075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7BBFD4-16D2-4F41-88C1-3E440D94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05275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E3E9AE-BC18-416B-A06E-F78E7D5B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24475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8A9859-7E03-450B-838B-131D3BDC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05275"/>
            <a:ext cx="133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FDFE0-7B35-445B-81AC-74F87114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2890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A79032-1184-4FD7-8E2C-4325B003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84810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DAEF66-57EF-4122-9BE7-C8924543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06730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CBDBED-1451-4ECA-BCE5-B6197F877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84810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AB4846-E148-4A18-8332-C5057DF2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2857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C80089-F0FB-458E-AF02-37F323D7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762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BF83"/>
          </a:solidFill>
          <a:ln xmlns:a="http://schemas.openxmlformats.org/drawingml/2006/main" w="0">
            <a:solidFill>
              <a:srgbClr val="0BBF8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782C73-0A01-43A1-963B-B9273012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rPr>
              <a:t>PRIMARY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397421-E4BF-48CD-A58F-EEF799ED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macOS AX watcher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8FE89E-F3F6-42F8-861F-AE4DC0514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事件驱动；读取聚焦窗口与可访问树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AA7143-AF4A-4E64-8204-7A16B52B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00450"/>
            <a:ext cx="2857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611FF9-C7F6-4B66-A281-BF24C42F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00450"/>
            <a:ext cx="762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22E"/>
          </a:solidFill>
          <a:ln xmlns:a="http://schemas.openxmlformats.org/drawingml/2006/main" w="0">
            <a:solidFill>
              <a:srgbClr val="F0A22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AC4201-613E-410B-A0C2-CFC3855A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0A22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0A22E"/>
                </a:solidFill>
                <a:latin typeface="Helvetica Neue"/>
                <a:ea typeface="Helvetica Neue"/>
                <a:cs typeface="Helvetica Neue"/>
              </a:rPr>
              <a:t>FALLBACK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7063F5-F47A-468F-AD5C-5174D117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43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本地 OCR worker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9D613E-4D4E-4591-810B-D6EB616D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AX 文本不足时，隔离子进程本地识别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B8C858-0D63-4C1C-85E1-D8D24265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2857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C1DDEE-3DD3-4F7D-A6C2-11613F18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762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CC4"/>
          </a:solidFill>
          <a:ln xmlns:a="http://schemas.openxmlformats.org/drawingml/2006/main" w="0">
            <a:solidFill>
              <a:srgbClr val="D94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873D22-8BA1-45B1-A5BA-5BB0D6B4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ALTERNATE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67E63E-F093-4334-8D11-1DF3B0FC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625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trusted ingest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7A1C3D-DFFC-4472-A856-EBAE606C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mobile bridge 经本地认证后进入同一条 S1 路径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3C9BEE-E4AE-43FD-9CB2-C95EF65DE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86050"/>
            <a:ext cx="2286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BC116D-0B34-4822-8A8C-1F30D2FB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rPr>
              <a:t>ONE COMMIT PATH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FECCC-AD30-4992-9E08-760CCDF9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181350"/>
            <a:ext cx="1866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Scheduler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31F93E-81B1-4EC4-B452-53C4B8F5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810000"/>
            <a:ext cx="18669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debounce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content dedup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min gap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window metadata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buffer write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ECE741-1DCD-454A-9B28-81414B36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81250"/>
            <a:ext cx="29527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09A1C4-68E1-4A01-AD6B-D1FD39E8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28900"/>
            <a:ext cx="85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C9B099-0057-408D-87CE-6056B2B3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3528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171717"/>
                </a:solidFill>
                <a:latin typeface="Menlo"/>
                <a:ea typeface="Menlo"/>
                <a:cs typeface="Menlo"/>
              </a:rPr>
              <a:t>focused_element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0A85B6-5AC2-4594-946F-841228F6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147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171717"/>
                </a:solidFill>
                <a:latin typeface="Menlo"/>
                <a:ea typeface="Menlo"/>
                <a:cs typeface="Menlo"/>
              </a:rPr>
              <a:t>visible_text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4ED075-29EB-4516-B571-8D84E274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4767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171717"/>
                </a:solidFill>
                <a:latin typeface="Menlo"/>
                <a:ea typeface="Menlo"/>
                <a:cs typeface="Menlo"/>
              </a:rPr>
              <a:t>url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AA8308-4CCA-4241-8786-84D6933E1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048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上层不再直接接触 macOS</a:t>
            </a:r>
          </a:p>
        </p:txBody>
      </p:sp>
    </p:spTree>
    <p:extLst>
      <p:ext uri="{BB962C8B-B14F-4D97-AF65-F5344CB8AC3E}">
        <p14:creationId xmlns:p14="http://schemas.microsoft.com/office/powerpoint/2010/main" val="6966142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F264E5-D9DF-46D3-8CC3-49DBC992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8EBAF7-A463-490F-A43D-987AA508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CAPTURE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BDA08B-E8C0-4610-A08A-5309F2B7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采集不等于无限记录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B7876B-5D77-4E53-B7F8-9E25B03F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6AB34C-4B5F-4957-8E37-3DE24E1ED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DBE2B8-FD13-4026-960F-16BDE534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57BAA-CAA3-4100-8636-523BC76A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采集层要同时解决两件事：信号质量与隐私边界。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6FE277-0706-4B85-8658-5EA36A22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43125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4714F9-5DD7-4F75-B31B-DCBFA0210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95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明确授权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465397-F734-4BFC-8DF5-9A6879ED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24075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Accessibility 绑定到实际 native helper；需要像素时才请求 Screen Recording。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3AE10E-A8B0-41EE-A05E-A613C64C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D3D91F-E552-4479-B247-7527E8F7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19425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D72184-E117-40CD-B029-271F79F0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718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少而有用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1060A8-4972-4413-A86B-6C95146D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00375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事件 debounce、时间去重与内容指纹，避免每次键入都产生一条记录。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3FE831-82D2-4011-B2BE-9ED1BFE5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1A9457-CF9E-41D0-A187-BAC739C1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95725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CE6534-4425-4B01-8935-8174C8CD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像素 fail closed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870EB1-C4C5-4126-BFFD-71C831390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76675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截图加密缺少有效密钥时，保留 AX 文本与元数据，但不写明文像素。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D41772-2A07-4231-95E2-DC990643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6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A84F5B-237C-49BE-90A6-8C1EE8D0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72025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67FE37-C1BE-4EE7-A627-785B8DD1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244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有界保留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796F74-84C6-48AB-B909-A1271405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52975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默认捕获保留 7 天；截图按更短窗口剥离，显式清理支持安全删除。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636E51-FE6F-4C18-9356-59346CB9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676900"/>
            <a:ext cx="733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原则：无法证明权限或密钥有效时，宁可降级，也不伪装成成功。</a:t>
            </a:r>
          </a:p>
        </p:txBody>
      </p:sp>
    </p:spTree>
    <p:extLst>
      <p:ext uri="{BB962C8B-B14F-4D97-AF65-F5344CB8AC3E}">
        <p14:creationId xmlns:p14="http://schemas.microsoft.com/office/powerpoint/2010/main" val="9314192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163EF9-C31F-431D-99C6-F3C0B890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1ABAAC-1FD1-4E97-8C36-FD85522A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MODEL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F5D386-1826-4A8E-BA0A-8D327045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状态形成把连续活动切成可处理单元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C06082-CDDC-4804-B3A2-BE3B7AEB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84A93-CB98-475B-A748-ABB3A1CC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B60D9E-2F04-4A99-8FFA-7085EBB7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D3A40F-51CB-483B-8A62-E1512E59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观察不是模型。中间需要一条确定、可恢复的状态形成链路。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8EFDFB-E7F9-4845-80C5-F177DADF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7187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A97809-BDC6-47B4-A3B6-92A6EE8B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3623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D2B74A-8215-4F5F-AFC5-8A30156D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CAPTURES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0B8E11-AEAC-4A4C-8CC5-5835F794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1276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S1 观察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12F609-E715-4F0D-99AF-0210674A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1504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事件与证据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E0C0F9-1C3C-4CD5-B5B3-F104F14B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3623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FA2BE7-16F7-4BCB-A2C7-65F587DF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13360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 MIN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AC749E-B68C-4EF2-A4B2-429156DD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524125"/>
            <a:ext cx="1276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Timeline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377560-2C19-4AEF-BFFF-5BBEAD55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143375"/>
            <a:ext cx="1504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保留原文的标准化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6AEBE0-FF09-43ED-AB8A-4E156FC3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3623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1F613E-CBD8-4F42-BAF7-25A76344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13360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 RULES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88FABC-9720-4687-93FD-80A7CAE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524125"/>
            <a:ext cx="1276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Session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30630B-732D-46C4-A93B-80D71837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143375"/>
            <a:ext cx="1504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idle / soft cut / max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C7B63E-57AB-463F-8A19-4049215F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3623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2C275B-03AE-4F87-8560-CC0D0FEB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3360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5 MIN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58E9E0-CC7D-48B7-A314-54A83778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24125"/>
            <a:ext cx="1276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Reducer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F3F50F-04C5-49EE-A133-FA4FD37CA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143375"/>
            <a:ext cx="1504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增量事件记忆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58B6C-1026-4C9E-A5C7-C410A9D2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33623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BC5169-7C62-4A02-A12F-0A609B4C4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13360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TAIL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36F9E2-A7A1-4044-BE68-6CB4830C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524125"/>
            <a:ext cx="1276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Finalizer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5907A2-ED41-41D4-95EB-84FA1933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143375"/>
            <a:ext cx="1504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只补末尾窗口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B97665-CB5F-4678-9647-B2006E4E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95875"/>
            <a:ext cx="6400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1C653E-AF57-4604-8802-C9E82AB0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149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D8D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3D8DFF"/>
                </a:solidFill>
                <a:latin typeface="Menlo"/>
                <a:ea typeface="Menlo"/>
                <a:cs typeface="Menlo"/>
              </a:rPr>
              <a:t>每个边界都有稳定 bookmark：flush_end / delta_end / modeled_at</a:t>
            </a:r>
          </a:p>
        </p:txBody>
      </p:sp>
    </p:spTree>
    <p:extLst>
      <p:ext uri="{BB962C8B-B14F-4D97-AF65-F5344CB8AC3E}">
        <p14:creationId xmlns:p14="http://schemas.microsoft.com/office/powerpoint/2010/main" val="19787266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F85201-DD19-4407-B877-6AEF62BB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33741-B86F-4979-8B7F-AB41D091A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MODEL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FE20F53-02D7-439A-AFD9-58F7CD79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建模层分两种速度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170F41-AE3D-4697-935D-0E7F7259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3CC6FB-A219-4891-93F0-53CDC343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D1092C-6501-43A4-944F-1E74063C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09C8B-15E4-40FE-A2BC-6BF91F83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快速循环处理“刚刚发生了什么”，慢速循环处理“长期说明了什么”。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DC7339-F0C6-42A3-A6E0-4331E95F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981200"/>
            <a:ext cx="0" cy="3829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59480A-0041-47A8-8ED2-4785B0C1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FAST LOOP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9196A6-A953-48DD-A67A-1DD36CF9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Point / 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D0CA1A-77F0-465E-BBC4-72931E63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每个新会话窗口：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D53C7F-B436-476A-91E1-CD3E5ACB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4000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结构化 memory_delta</a:t>
            </a:r>
          </a:p>
          <a:p xmlns:a="http://schemas.openxmlformats.org/drawingml/2006/main">
            <a:pPr algn="l"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证据、实体、谓词与置信度 gates</a:t>
            </a:r>
          </a:p>
          <a:p xmlns:a="http://schemas.openxmlformats.org/drawingml/2006/main">
            <a:pPr algn="l"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deterministic apply</a:t>
            </a:r>
          </a:p>
          <a:p xmlns:a="http://schemas.openxmlformats.org/drawingml/2006/main">
            <a:pPr algn="l"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失败后从相同窗口恢复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A84AEE-5A41-4147-B131-A9EE9F79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SLOW 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CF54D2-E972-41BB-8AC4-21378C96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5270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Face / Volume / Root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8B31A9-DBDF-4500-A2E4-637EE3F0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52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当 Point / Line 证据积累：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4AD875-FDCA-469F-97CE-0345B268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10000"/>
            <a:ext cx="476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同域稳定模式形成 Face</a:t>
            </a:r>
          </a:p>
          <a:p xmlns:a="http://schemas.openxmlformats.org/drawingml/2006/main">
            <a:pPr algn="l"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跨域重复结构形成 Volume</a:t>
            </a:r>
          </a:p>
          <a:p xmlns:a="http://schemas.openxmlformats.org/drawingml/2006/main">
            <a:pPr algn="l"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当前整体模型形成至多一个 Root</a:t>
            </a:r>
          </a:p>
          <a:p xmlns:a="http://schemas.openxmlformats.org/drawingml/2006/main">
            <a:pPr algn="l"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输入不足时保持 degraded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4459B9-5E88-4561-A674-00BE3310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1809750" cy="41910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增量更新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FB76B6-6D3D-40AD-A7B5-75E54559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67350"/>
            <a:ext cx="1809750" cy="41910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F8EA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4CC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94CC4"/>
                </a:solidFill>
                <a:latin typeface="PingFang SC"/>
                <a:ea typeface="PingFang SC"/>
                <a:cs typeface="PingFang SC"/>
              </a:rPr>
              <a:t>结构提升</a:t>
            </a:r>
          </a:p>
        </p:txBody>
      </p:sp>
    </p:spTree>
    <p:extLst>
      <p:ext uri="{BB962C8B-B14F-4D97-AF65-F5344CB8AC3E}">
        <p14:creationId xmlns:p14="http://schemas.microsoft.com/office/powerpoint/2010/main" val="14109704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198B53-D71B-4EA7-A9A5-7A2AC19C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98C77-AA03-44D5-9ABB-08BA4C35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MODEL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A97F3A6-5581-493C-96E2-BC92F6A2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五种几何，代表五种理解深度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D78793-DC3D-4F72-A9C7-144051BB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9A216-AF14-4246-827C-0945C30B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6345F9-54DF-428E-87F0-C7FF198F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0286c56afc4e2d"/>
          <a:stretch xmlns:a="http://schemas.openxmlformats.org/drawingml/2006/main"/>
        </p:blipFill>
        <p:spPr>
          <a:xfrm xmlns:a="http://schemas.openxmlformats.org/drawingml/2006/main">
            <a:off x="1949538" y="1390650"/>
            <a:ext cx="8292925" cy="4667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57275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FD9E22-A50C-431E-A0D3-49C2853E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0C5DED-1D23-42A0-99AE-8BC07D4D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MODEL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F1D8581-FF61-4DAD-AC36-7A229C45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重要结论必须能回到证据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C98E30-2303-4098-A148-7AA6327E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5351F6-0ED0-4394-B216-DC8A668B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BFB7B6-0EF8-409E-B524-89E4E621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B254C-7AD7-4370-A815-8AB80A54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“模型说过”不是证据；每条重要判断都需要来源、上下文与历史。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E59B83-E6AE-4BE4-BCB5-48463D1B8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914650"/>
            <a:ext cx="819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DB2E66-998A-474B-9828-ED40692E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76750"/>
            <a:ext cx="819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EB1924-E3C8-4B49-A16C-863A9AE8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2476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19050">
            <a:solidFill>
              <a:srgbClr val="0BBF8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2260F7-58B9-4C99-8128-76A1D92C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098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rPr>
              <a:t>Observation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90DBEC-7361-426F-AE5B-91CE7FBB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9085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原始 S1 / Timeline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E4A2F0-8577-4D37-A9DF-9A979BD1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2476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B5A012-9EE2-41E4-BEAA-B03DE091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6098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Point / 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8CB57C-C29B-4285-B4A8-846A3BA4F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9085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当前判断 + receipt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0F3BFD-A12D-4E33-9A34-7B74C525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476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19050">
            <a:solidFill>
              <a:srgbClr val="D94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9811C8-07DC-4C5B-A0BF-4B394B14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098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Face / Root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AE9558-45A3-4CE1-B6FF-68376DF3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9085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聚合 source_receipts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58988A-F2FF-4EFF-9B7D-59DB4B31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479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93AC7E-811D-41D5-AA59-37486EA4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6479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1DC31D-E9F0-445E-9E0A-6EB8574C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4953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4DB434-D592-4D35-B97E-A83579AA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48150"/>
            <a:ext cx="453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CORRECTION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2C95CA-AB3E-456B-AC78-D66F39AC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720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更新不是覆盖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EB997B-3070-40A5-A94A-4FD94B4E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48250"/>
            <a:ext cx="4533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supersede / retype / merge / revoke 保留旧状态与来源，使变化可审计、可回退。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7B73A9-4D53-401B-B2FB-F2EED009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76700"/>
            <a:ext cx="4953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6140D5-D7C1-419C-94A6-8CFD2595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248150"/>
            <a:ext cx="453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EVIDENCE 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D3E925-ACDA-45CF-A2A9-AC3109E3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720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来源、附近上下文、历史分开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518530-B021-48DB-B07A-4266246F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048250"/>
            <a:ext cx="4533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直接 sources、time-adjacent context、Point predecessor/successor 不混为一谈。</a:t>
            </a:r>
          </a:p>
        </p:txBody>
      </p:sp>
    </p:spTree>
    <p:extLst>
      <p:ext uri="{BB962C8B-B14F-4D97-AF65-F5344CB8AC3E}">
        <p14:creationId xmlns:p14="http://schemas.microsoft.com/office/powerpoint/2010/main" val="17574132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9C491D-8E1F-4947-8A4A-93D3985A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619A03-1893-4486-A7B5-4842482C9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MODEL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160CFD-4889-4EBC-8EE6-64A7E7F1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可靠性来自一条写入路径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3B307F-73EA-4485-B033-93B60AB0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1183A-9829-4ED6-A1F2-80F1A7B6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C80BDF-128C-4E9E-B946-D0216E3B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B3F490-ECA1-4439-8BE6-B381AA5E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同一个 session-model service 被 active flush、finalizer、retry、CLI 与 model build 复用。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C51DB7-1B99-4C3E-8C28-F6839DD7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1470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2D4854-B4AD-4C2B-B9EE-A6C8325D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086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F99807-B363-4028-A473-F475B341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319DEB-D25E-4194-9FD6-4B1AC941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171717"/>
                </a:solidFill>
                <a:latin typeface="Menlo"/>
                <a:ea typeface="Menlo"/>
                <a:cs typeface="Menlo"/>
              </a:rPr>
              <a:t>persist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1C4E3D-C24A-45EA-8D17-5AF8FDC4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先写 memory_delta 审计行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55550A-81DF-463E-A63A-A165195B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086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6C7809-E0ED-41A7-8DBF-D02CC400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71700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70EBB4-F0DC-464E-B101-B5138583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146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171717"/>
                </a:solidFill>
                <a:latin typeface="Menlo"/>
                <a:ea typeface="Menlo"/>
                <a:cs typeface="Menlo"/>
              </a:rPr>
              <a:t>gate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1FBB8D-DF55-4B43-AFFB-141F5872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052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证据 / identity / predicate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FAE721-1312-40F6-9DD5-05EBEBF7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086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261460-2372-4694-89E9-F89CB190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71700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996CD7-3718-4B1E-A2E1-FF73D327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146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171717"/>
                </a:solidFill>
                <a:latin typeface="Menlo"/>
                <a:ea typeface="Menlo"/>
                <a:cs typeface="Menlo"/>
              </a:rPr>
              <a:t>apply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14E1C0-1FC8-48D8-9AE8-5754ACB8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052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确定性写入 Point / 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D70CE1-6005-4921-AA71-E4FD12C6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3086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DCC655-E4C1-4BD8-A5B1-F57B4F86C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71700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83D97D-3625-4BFE-813C-F844CAE3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5146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171717"/>
                </a:solidFill>
                <a:latin typeface="Menlo"/>
                <a:ea typeface="Menlo"/>
                <a:cs typeface="Menlo"/>
              </a:rPr>
              <a:t>bookmark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E7000C-E17A-4A1B-B0E8-8B57F86E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9052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成功后推进 delta_end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453736-499F-46A7-A100-D460B23F3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95850"/>
            <a:ext cx="10668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11EE1B-4477-4F8E-8F22-ED6FCC36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失败语义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E9A0C9-F317-4C8B-8522-5FD8BEADB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124450"/>
            <a:ext cx="8334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Apply 失败：不推进 bookmark，下次重试同一窗口  ·  语义阶段失败：标记 degraded，不伪造几何  ·  进程竞争：flock 协调</a:t>
            </a:r>
          </a:p>
        </p:txBody>
      </p:sp>
    </p:spTree>
    <p:extLst>
      <p:ext uri="{BB962C8B-B14F-4D97-AF65-F5344CB8AC3E}">
        <p14:creationId xmlns:p14="http://schemas.microsoft.com/office/powerpoint/2010/main" val="70791305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69B4A7-2D6E-41E5-AB0B-4592ED93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734488-80AD-4470-A04F-DBEA7C5C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CONNECTION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6EE933-A73E-4506-A231-CB6E3675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连接层只提供上下文，不代替授权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A9E01-2AE4-48AE-9CCD-61EC76CE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A00D10-E97D-42E2-AD93-AFE1F72B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87A43E-FCF8-4643-9ECB-30BE7AB6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8D2A18-4142-4C52-9DC4-3F23231C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171700"/>
            <a:ext cx="0" cy="3638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A25EA-E330-4216-92E7-38B65C85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192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LOCAL RUNTIME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4AB34B-6B0F-4EEF-B742-B6CEA0DE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一个模型，四个访问面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0FC01C-2B15-49A5-8B3F-5263F4E6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rPr>
              <a:t>Snapshot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E8F189-8BDF-4E56-A927-C28A5C26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8194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versioned 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6C9D3A-F76D-4FF4-90F4-E9B057CC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470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30070-8372-401A-AD54-66193E50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rPr>
              <a:t>MCP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CDF34A-512A-4AE2-B102-9AD151E05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4861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检索 / provenance / correction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A5DED8-D235-42A2-B9FC-11930E2C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470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03E216-77D9-41C2-94EF-67628660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33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rPr>
              <a:t>/model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74777B-64D0-4B3B-8B0C-5B0B7D80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529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owner-local viewer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4FDD22-C4C8-4FAE-9B99-4DA1652F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470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FF77DE-82EC-49E7-8F06-CA66BED1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rPr>
              <a:t>CLI + HUMAN.md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0B9DC1-B904-4B4F-A977-1A99AEC1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8196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操作与阅读投影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8271F6-3314-454D-A56E-0F31E27D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6192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TRUST BOUNDARY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40B0EC-031A-464F-9205-48787B84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383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连接是个人数据能力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4C5C24-34D6-46E8-A546-8482B43D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003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A0A0A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0A0A0A"/>
                </a:solidFill>
                <a:latin typeface="Menlo"/>
                <a:ea typeface="Menlo"/>
                <a:cs typeface="Menlo"/>
              </a:rPr>
              <a:t>loopback only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5FB58A-83B4-4684-9A2F-9F37F4BF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19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HTTP 仅绑定本机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47825D-10DB-411C-9CB6-CBC5D0CC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57550"/>
            <a:ext cx="466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86AF57-A9CF-4670-83ED-617FC48B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467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A0A0A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0A0A0A"/>
                </a:solidFill>
                <a:latin typeface="Menlo"/>
                <a:ea typeface="Menlo"/>
                <a:cs typeface="Menlo"/>
              </a:rPr>
              <a:t>bearer / stdio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7FBC2A-40B3-4CF0-8950-620F583A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486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受信任客户端显式连接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081964-BBDF-4C50-A84F-747BE67F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24300"/>
            <a:ext cx="466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3A1C24-369E-4853-80A2-A90CE2CC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133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A0A0A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0A0A0A"/>
                </a:solidFill>
                <a:latin typeface="Menlo"/>
                <a:ea typeface="Menlo"/>
                <a:cs typeface="Menlo"/>
              </a:rPr>
              <a:t>one-use viewer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290775-F45E-49DD-980C-999192AF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1529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短时能力换取本地页面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CF3AF3-52D2-4208-A9D8-6FB22548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591050"/>
            <a:ext cx="466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5AE4AF-5D90-4760-9715-7227408A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8006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05264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05264"/>
                </a:solidFill>
                <a:latin typeface="Menlo"/>
                <a:ea typeface="Menlo"/>
                <a:cs typeface="Menlo"/>
              </a:rPr>
              <a:t>no actuation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343EB8-6D6F-4C6C-858B-50062BB7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8196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不点击、不发消息、不执行任务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86C9BE-9D16-40B0-A011-C6C45216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619750"/>
            <a:ext cx="466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4CC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94CC4"/>
                </a:solidFill>
                <a:latin typeface="PingFang SC"/>
                <a:ea typeface="PingFang SC"/>
                <a:cs typeface="PingFang SC"/>
              </a:rPr>
              <a:t>Agent 负责工作；外部动作仍由用户和客户端策略授权。</a:t>
            </a:r>
          </a:p>
        </p:txBody>
      </p:sp>
    </p:spTree>
    <p:extLst>
      <p:ext uri="{BB962C8B-B14F-4D97-AF65-F5344CB8AC3E}">
        <p14:creationId xmlns:p14="http://schemas.microsoft.com/office/powerpoint/2010/main" val="17404403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EF7EBF-CCA7-4F02-9B03-75C14935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977C9D-DDAC-41B3-831E-50B930C04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LIVE DEMO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6B7E593-8305-4E90-9C97-D1B7FD4C2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Demo：让 Agent 沿着证据接手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034047-24CB-4CBA-878C-5AA5B0AD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B55730-CC4D-4D6B-950A-608B2F78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D0C2FF-91A5-4057-BE17-FA2BF114F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dd0525492240b3"/>
          <a:stretch xmlns:a="http://schemas.openxmlformats.org/drawingml/2006/main"/>
        </p:blipFill>
        <p:spPr>
          <a:xfrm xmlns:a="http://schemas.openxmlformats.org/drawingml/2006/main">
            <a:off x="5257800" y="1964764"/>
            <a:ext cx="6534150" cy="370952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D8246-3349-47DD-A575-12958BC7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668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7DACAD-8E95-456C-9A26-C02F1D04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2877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现在我正在做什么？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133AD5-4D51-4118-AEE5-A1013B3C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24075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368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5F6368"/>
                </a:solidFill>
                <a:latin typeface="Menlo"/>
                <a:ea typeface="Menlo"/>
                <a:cs typeface="Menlo"/>
              </a:rPr>
              <a:t>current_context / attention_trajectory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5117B4-E30B-4A27-A381-19A3B571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0"/>
            <a:ext cx="457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BBC971-B350-4F4D-BD4E-E386C2DD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622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4BFF6C-13BA-4815-8377-F6A50A41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为什么上次停在这里？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C18EE3-4447-420E-90D5-EBA40F44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19475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368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5F6368"/>
                </a:solidFill>
                <a:latin typeface="Menlo"/>
                <a:ea typeface="Menlo"/>
                <a:cs typeface="Menlo"/>
              </a:rPr>
              <a:t>search → related_events → receipt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B4DED8-954B-48F3-A3EC-261D54CE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457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15F7FE-3439-406C-A0D1-4C58B50E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576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87656D-BE04-4C9F-BB6D-64A7377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1957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这条结论错了，纠正它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160B16-03AC-46F3-9A64-24E40739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14875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368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5F6368"/>
                </a:solidFill>
                <a:latin typeface="Menlo"/>
                <a:ea typeface="Menlo"/>
                <a:cs typeface="Menlo"/>
              </a:rPr>
              <a:t>correct_memory → history preserved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D22602-81FA-4096-8D99-F66D5F97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38800"/>
            <a:ext cx="457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A9533F-1B39-46F1-A6B3-56872282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531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Demo 成功标准：连续性 · 证据 · 纠正 · 边界</a:t>
            </a:r>
          </a:p>
        </p:txBody>
      </p:sp>
    </p:spTree>
    <p:extLst>
      <p:ext uri="{BB962C8B-B14F-4D97-AF65-F5344CB8AC3E}">
        <p14:creationId xmlns:p14="http://schemas.microsoft.com/office/powerpoint/2010/main" val="186270342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880BBD-A48B-474F-8A81-F02D7623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86BAD-0B21-4540-B25D-ADD6E3DB0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APPLICATIONS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F9A952-95CB-43B7-AB95-87978DBF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量子研发值得验证的不是“搜索”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92662-AD32-457E-B3BF-584D918C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D06C42-C167-478F-9FB3-E8F082A7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4BBAE4-3AE3-47E0-8605-2B408D94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D86AA6-1246-4BE9-BF54-43BB9701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42900"/>
            <a:ext cx="2457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9"/>
          </a:solidFill>
          <a:ln xmlns:a="http://schemas.openxmlformats.org/drawingml/2006/main" w="9525">
            <a:solidFill>
              <a:srgbClr val="F0A2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0101C2-573F-4EF5-BB4B-0FF40227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47675"/>
            <a:ext cx="2171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C5B00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8C5B00"/>
                </a:solidFill>
                <a:latin typeface="PingFang SC"/>
                <a:ea typeface="PingFang SC"/>
                <a:cs typeface="PingFang SC"/>
              </a:rPr>
              <a:t>待验证场景 · 非客户结论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314BD6-E9C2-4B43-AEAF-8CD82848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更关键的问题是：接手者能否知道“为什么做到这里”。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1D2F32-2BE2-460F-80DA-09287406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35814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C49C5B-5B17-47CC-ADF2-26AE65EF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E9C48A-6ACC-4273-A1F9-778768D4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3124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研究 / 工程交接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FB3584-51F9-4238-8CB8-4982A642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43350"/>
            <a:ext cx="3124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目标、当前进度、关键决策、约束、下一步与来源，能否减少负责人反复 briefing？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721C0E-7FB3-4348-B67C-401FAAAB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47900"/>
            <a:ext cx="35814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8CB3DB-BDF6-4024-BFD1-8B875595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FAB9AB-8D10-469D-8BE6-5249049D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71800"/>
            <a:ext cx="3124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实验与代码的决策追踪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5DA265-9B3C-4458-839D-7CF5F09B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43350"/>
            <a:ext cx="3124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能否保留“为什么这样设计、依据是什么、哪条新证据改变了判断”？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E4512E-1E49-4636-A35F-DF93B658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35814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F00BED-8328-4393-A370-5CD21BB2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76500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CC5BFB-10B9-474D-A260-E7461A30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71800"/>
            <a:ext cx="3124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同一研究者的多 Agent 协作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5FDFAC-2AAA-45FA-9AC8-EBA84D148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43350"/>
            <a:ext cx="3124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论文阅读、代码实现、实验分析和写作，能否共享同一份用户拥有的上下文？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565E8F-E803-4A1A-AD9F-53883E5B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769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共同目标：从“找得到文档”推进到“接得住工作状态”。</a:t>
            </a:r>
          </a:p>
        </p:txBody>
      </p:sp>
    </p:spTree>
    <p:extLst>
      <p:ext uri="{BB962C8B-B14F-4D97-AF65-F5344CB8AC3E}">
        <p14:creationId xmlns:p14="http://schemas.microsoft.com/office/powerpoint/2010/main" val="1662010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FB7511-ED43-4CEB-AAB7-42D018D59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04069-6A03-4CE7-A802-4FBB3B2F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APPLICATIONS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0A821C-EEED-4512-9F56-9F00D32F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把研究思路蒸馏成可校准的实验闭环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61002-B38A-433F-8581-5BCE0FFB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B5B059-2EEB-4428-8976-FEA2219C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3638E1-EF60-4151-989C-BBE5667E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C312D7-61D9-4E6E-A30B-0198E2D3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71850"/>
            <a:ext cx="944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168FE8-74DC-4F7D-81A6-0AD3EF62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432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BF83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E18D08-E040-4D37-A645-22BAA6100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33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rPr>
              <a:t>SOURCES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7437C-F00E-452E-90B6-5C458675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43150"/>
            <a:ext cx="2038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论文 / 代码 /</a:t>
            </a:r>
          </a:p>
          <a:p xmlns:a="http://schemas.openxmlformats.org/drawingml/2006/main">
            <a:pPr algn="ctr"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实验记录 / 讨论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D41B8D-1FE0-48B6-8790-3B0F03FA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2038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保留来源与时间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D00D66-8F4E-4343-A3A4-78A7ADD4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62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5370B9-EC04-4953-BAFD-E1373E3C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1432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771430-80E0-420A-9D04-E2A6FCC0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33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PERSONAL 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0673AF-AB02-4348-A7CF-C04FF4A1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43150"/>
            <a:ext cx="2038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目标 / 假设 /</a:t>
            </a:r>
          </a:p>
          <a:p xmlns:a="http://schemas.openxmlformats.org/drawingml/2006/main">
            <a:pPr algn="ctr"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路径 / 判断边界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B74C71-8760-460A-8DC4-F0BFA697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29075"/>
            <a:ext cx="2038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带证据、可纠正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0721E3-1894-41F7-9517-DD40096D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62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D94577-9F64-4275-8DCF-16DD6363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1432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CC4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4891C7-401C-489D-854A-B302B8E9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933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AGENT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661FBC-5093-4437-9E2C-4B7784EF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343150"/>
            <a:ext cx="2038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设计 / 执行 /</a:t>
            </a:r>
          </a:p>
          <a:p xmlns:a="http://schemas.openxmlformats.org/drawingml/2006/main">
            <a:pPr algn="ctr"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分析 / 复盘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7A3E4C-90AA-4323-B214-34B30E27E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029075"/>
            <a:ext cx="2038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沿授权上下文工作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FF9033-BEBB-43A5-98F6-238BAE13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62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5B4239-0B9A-44D1-8C96-AB8799A36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1432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A22E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93B80D-770D-4D42-AD7B-78C9BD9A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33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0A22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0A22E"/>
                </a:solidFill>
                <a:latin typeface="Helvetica Neue"/>
                <a:ea typeface="Helvetica Neue"/>
                <a:cs typeface="Helvetica Neue"/>
              </a:rPr>
              <a:t>RESEARCHER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8E8F12-AB15-4B9B-8832-0714F9F7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43150"/>
            <a:ext cx="2038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校准方向 /</a:t>
            </a:r>
          </a:p>
          <a:p xmlns:a="http://schemas.openxmlformats.org/drawingml/2006/main">
            <a:pPr algn="ctr"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确认结果 / 决策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5B3157-1F68-4A1C-B849-D3F4E6B9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029075"/>
            <a:ext cx="2038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保留最终责任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2DAF0D-F40A-47F7-9760-8B36C173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029200"/>
            <a:ext cx="7200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40820A-67BD-40F1-AB8B-735E815E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276850"/>
            <a:ext cx="670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研究者的纠正进入历史 → 下一次委派从更好的模型开始</a:t>
            </a:r>
          </a:p>
        </p:txBody>
      </p:sp>
    </p:spTree>
    <p:extLst>
      <p:ext uri="{BB962C8B-B14F-4D97-AF65-F5344CB8AC3E}">
        <p14:creationId xmlns:p14="http://schemas.microsoft.com/office/powerpoint/2010/main" val="1776793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B7B56C-3CA9-4F2A-9BEA-A6F8CFBD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0F01C7-CB6A-41FB-AAC9-B63CEE9E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APPLICATIONS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B2B849E-6F85-4333-9989-E616B586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未来价值：先让一次交接变得可验证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76024-CCBE-4BF5-A937-3E90E76A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AC022-8C7F-48B3-904A-7C7F5651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7293F4-5D6C-48AB-A758-EF88A42C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69CCCA-B90F-4727-9BCE-05D502B7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不先做完整企业平台；从一个人、一个工作流、一个高代价断点开始。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935AC4-3E11-4D95-8EA3-1ABD583C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NOW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ADAA8C-17C9-494A-BD1C-46E4AD20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193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个人连续性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D9B003-AE73-421D-A8C6-68260930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342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减少重复 briefing</a:t>
            </a:r>
          </a:p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恢复目标、进度与下一步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C9ADC0-D52E-499E-B0C0-6C1E216C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190750"/>
            <a:ext cx="0" cy="2171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2C4185-8A4E-41E6-BAC7-CB50FD21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90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NEXT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7C3E9F-1DC3-4DF6-B089-7FDFC31E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193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多 Agent 协作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7F9A7D-E4FE-4BFF-8B70-08B39CB4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33750"/>
            <a:ext cx="342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共享一份用户拥有的上下文</a:t>
            </a:r>
          </a:p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纠正一次，多处受益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74907F-C0D0-4FD4-ACE5-5096F149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90750"/>
            <a:ext cx="0" cy="2171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8BC376-64F6-419D-8F43-32C4AB98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90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LATER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9D6ED8-E430-47DD-A746-98F58991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193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研究协作基础设施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7DDCFD-2A76-4AFD-9E71-760E3DFE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33750"/>
            <a:ext cx="342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跨工具、跨角色、跨实验周期</a:t>
            </a:r>
          </a:p>
          <a:p xmlns:a="http://schemas.openxmlformats.org/drawingml/2006/main">
            <a:pPr algn="l"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形成可审计的工作状态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E95B14-A671-49B7-8154-3E8AAD57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113919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81463-70D0-480A-8C25-66CB83DF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8157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小规模验证指标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7FA0EA-49BF-48FF-897D-5456C15D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339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rPr>
              <a:t>briefing 时间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9749BE-584F-42F9-8F0D-967CEB4F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38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rPr>
              <a:t>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F63743-F6FD-449A-A340-856EA079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9339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rPr>
              <a:t>错误上下文率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A1205C-AEB0-40EE-9AED-562F13276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238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rPr>
              <a:t>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E42A3B-6251-4338-A90B-7DBC6D38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339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rPr>
              <a:t>接手成功率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C2F506-86DA-4A54-AAE1-8BECDE69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238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rPr>
              <a:t>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FA1AD4-B9C2-47FE-9D45-D9EBE858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9339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rPr>
              <a:t>重复使用率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19A0F9-372C-441B-A72C-92C7DB4B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238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rPr>
              <a:t>↑</a:t>
            </a:r>
          </a:p>
        </p:txBody>
      </p:sp>
    </p:spTree>
    <p:extLst>
      <p:ext uri="{BB962C8B-B14F-4D97-AF65-F5344CB8AC3E}">
        <p14:creationId xmlns:p14="http://schemas.microsoft.com/office/powerpoint/2010/main" val="139113130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17BCF5-DBEA-4CD4-B6E6-407D7557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B3EA30-7D8C-4490-8A7D-DB5D4EE0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DISCUSSION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0D7C75-7240-4E22-B006-5EA1DA40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55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363ED0-93C0-470A-BEDB-677D1094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781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先找到最昂贵的上下文断点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4C06C4-5CA5-4B66-ADC1-401D50DA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5755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088136-A5BB-4A05-8B47-06A6EC44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194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你们最常在哪一种交接中丢失上下文？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ECF428-0483-4307-A1EF-7A524989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2D0ACA-E28F-42A1-8408-36AD5D9D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243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哪类判断最重要，却最难通过文档或搜索恢复？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1A9ACC-8B6D-475E-AA0D-60B344B9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A08859-D19B-4F2B-9C18-908B326B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291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如果做一个两周实验，什么结果会让它值得继续？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1A44D3-7BD3-4E00-9502-BA2139B4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047750"/>
            <a:ext cx="2838450" cy="470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0922C2-16ED-4AAE-8292-903F88E6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447800"/>
            <a:ext cx="226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PERSOME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6FA830-4840-433F-A119-7BE70373E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81250"/>
            <a:ext cx="2190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Open source</a:t>
            </a:r>
          </a:p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Local first</a:t>
            </a:r>
          </a:p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Evidence linked</a:t>
            </a:r>
          </a:p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Correctable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F5C659-4DE0-400A-B1A7-11DE62F7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6863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CB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6DCBF4"/>
                </a:solidFill>
                <a:latin typeface="Menlo"/>
                <a:ea typeface="Menlo"/>
                <a:cs typeface="Menlo"/>
              </a:rPr>
              <a:t>github.com/</a:t>
            </a:r>
          </a:p>
          <a:p xmlns:a="http://schemas.openxmlformats.org/drawingml/2006/main">
            <a:pPr algn="l">
              <a:defRPr sz="1275" b="0">
                <a:solidFill>
                  <a:srgbClr val="6DCB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6DCBF4"/>
                </a:solidFill>
                <a:latin typeface="Menlo"/>
                <a:ea typeface="Menlo"/>
                <a:cs typeface="Menlo"/>
              </a:rPr>
              <a:t>Intuition-Lab/</a:t>
            </a:r>
          </a:p>
          <a:p xmlns:a="http://schemas.openxmlformats.org/drawingml/2006/main">
            <a:pPr algn="l">
              <a:defRPr sz="1275" b="0">
                <a:solidFill>
                  <a:srgbClr val="6DCB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6DCBF4"/>
                </a:solidFill>
                <a:latin typeface="Menlo"/>
                <a:ea typeface="Menlo"/>
                <a:cs typeface="Menlo"/>
              </a:rPr>
              <a:t>personal-model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717C4E-612D-4819-9CC3-940AD26BA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4EBBC6-C91C-45EE-83F8-D2EB98BD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4CF905-8433-435F-A639-9E05A45A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0400228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2026-07-31T06:30:28.7980000Z</dcterms:created>
  <dcterms:modified xsi:type="dcterms:W3CDTF">2026-07-31T06:30:28.7980000Z</dcterms:modified>
</coreProperties>
</file>